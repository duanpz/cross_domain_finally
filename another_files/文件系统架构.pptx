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99390" y="3429000"/>
            <a:ext cx="1467485" cy="82994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838825" y="302895"/>
            <a:ext cx="143510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GMM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632835" y="2064385"/>
            <a:ext cx="2205990" cy="29273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018280" y="2415540"/>
            <a:ext cx="143510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RMN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4025265" y="3429000"/>
            <a:ext cx="143510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DN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4025265" y="4104640"/>
            <a:ext cx="1435100" cy="605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SAI</a:t>
            </a:r>
            <a:endParaRPr lang="en-US" altLang="zh-CN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519930" y="3093085"/>
            <a:ext cx="6985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057525" y="5385435"/>
            <a:ext cx="335661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LUSTRE</a:t>
            </a:r>
            <a:endParaRPr lang="en-US" altLang="zh-CN"/>
          </a:p>
        </p:txBody>
      </p:sp>
      <p:cxnSp>
        <p:nvCxnSpPr>
          <p:cNvPr id="19" name="直接箭头连接符 18"/>
          <p:cNvCxnSpPr>
            <a:stCxn id="14" idx="2"/>
            <a:endCxn id="18" idx="0"/>
          </p:cNvCxnSpPr>
          <p:nvPr/>
        </p:nvCxnSpPr>
        <p:spPr>
          <a:xfrm flipH="1">
            <a:off x="4735830" y="4709795"/>
            <a:ext cx="6985" cy="675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4" idx="7"/>
            <a:endCxn id="6" idx="1"/>
          </p:cNvCxnSpPr>
          <p:nvPr/>
        </p:nvCxnSpPr>
        <p:spPr>
          <a:xfrm flipV="1">
            <a:off x="1452245" y="641985"/>
            <a:ext cx="4386580" cy="29083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155575" y="4915535"/>
            <a:ext cx="235839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379970" y="2064385"/>
            <a:ext cx="2205990" cy="29273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7765415" y="2415540"/>
            <a:ext cx="143510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RMN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7772400" y="3429000"/>
            <a:ext cx="143510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DN</a:t>
            </a:r>
            <a:endParaRPr lang="en-US" altLang="zh-CN"/>
          </a:p>
        </p:txBody>
      </p:sp>
      <p:sp>
        <p:nvSpPr>
          <p:cNvPr id="27" name="矩形 26"/>
          <p:cNvSpPr/>
          <p:nvPr/>
        </p:nvSpPr>
        <p:spPr>
          <a:xfrm>
            <a:off x="7772400" y="4107815"/>
            <a:ext cx="1435100" cy="6045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SAI</a:t>
            </a:r>
            <a:endParaRPr lang="en-US" altLang="zh-CN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267065" y="3098800"/>
            <a:ext cx="6985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804660" y="5385435"/>
            <a:ext cx="3356610" cy="677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GPFS</a:t>
            </a:r>
            <a:endParaRPr lang="en-US" altLang="zh-CN"/>
          </a:p>
        </p:txBody>
      </p:sp>
      <p:cxnSp>
        <p:nvCxnSpPr>
          <p:cNvPr id="31" name="直接箭头连接符 30"/>
          <p:cNvCxnSpPr>
            <a:stCxn id="27" idx="2"/>
            <a:endCxn id="30" idx="0"/>
          </p:cNvCxnSpPr>
          <p:nvPr/>
        </p:nvCxnSpPr>
        <p:spPr>
          <a:xfrm flipH="1">
            <a:off x="8482965" y="4712335"/>
            <a:ext cx="6985" cy="673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414135" y="3550285"/>
            <a:ext cx="513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-556895" y="4374515"/>
            <a:ext cx="4064000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ym typeface="+mn-ea"/>
              </a:rPr>
              <a:t>涉及文件数据与客户端传输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上传、下载、</a:t>
            </a:r>
            <a:r>
              <a:rPr lang="zh-CN" altLang="en-US" sz="1200">
                <a:sym typeface="+mn-ea"/>
              </a:rPr>
              <a:t>迁移等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文件上传流程</a:t>
            </a:r>
            <a:r>
              <a:rPr lang="en-US" altLang="zh-CN" sz="1200">
                <a:sym typeface="+mn-ea"/>
              </a:rPr>
              <a:t>:</a:t>
            </a:r>
            <a:endParaRPr lang="en-US" altLang="zh-CN" sz="1200"/>
          </a:p>
          <a:p>
            <a:r>
              <a:rPr lang="zh-CN" altLang="en-US" sz="1200">
                <a:sym typeface="+mn-ea"/>
              </a:rPr>
              <a:t>客户端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向</a:t>
            </a:r>
            <a:r>
              <a:rPr lang="en-US" altLang="zh-CN" sz="1200">
                <a:sym typeface="+mn-ea"/>
              </a:rPr>
              <a:t> GMM </a:t>
            </a:r>
            <a:r>
              <a:rPr lang="zh-CN" altLang="en-US" sz="1200">
                <a:sym typeface="+mn-ea"/>
              </a:rPr>
              <a:t>发出写入请求（例如</a:t>
            </a:r>
            <a:r>
              <a:rPr lang="en-US" altLang="zh-CN" sz="1200">
                <a:sym typeface="+mn-ea"/>
              </a:rPr>
              <a:t>put /</a:t>
            </a:r>
            <a:r>
              <a:rPr lang="en-US" altLang="zh-CN" sz="1200">
                <a:sym typeface="+mn-ea"/>
              </a:rPr>
              <a:t>chuangshi/project_x/data.bin</a:t>
            </a:r>
            <a:r>
              <a:rPr lang="zh-CN" altLang="en-US" sz="1200">
                <a:sym typeface="+mn-ea"/>
              </a:rPr>
              <a:t>）。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GMM </a:t>
            </a:r>
            <a:r>
              <a:rPr lang="zh-CN" altLang="en-US" sz="1200">
                <a:sym typeface="+mn-ea"/>
              </a:rPr>
              <a:t>根据预设的</a:t>
            </a:r>
            <a:r>
              <a:rPr lang="en-US" altLang="zh-CN" sz="1200">
                <a:sym typeface="+mn-ea"/>
              </a:rPr>
              <a:t>“</a:t>
            </a:r>
            <a:r>
              <a:rPr lang="zh-CN" altLang="en-US" sz="1200">
                <a:sym typeface="+mn-ea"/>
              </a:rPr>
              <a:t>宏观调控策略</a:t>
            </a:r>
            <a:r>
              <a:rPr lang="en-US" altLang="zh-CN" sz="1200">
                <a:sym typeface="+mn-ea"/>
              </a:rPr>
              <a:t>”</a:t>
            </a:r>
            <a:r>
              <a:rPr lang="zh-CN" altLang="en-US" sz="1200">
                <a:sym typeface="+mn-ea"/>
              </a:rPr>
              <a:t>（如依据各个区域存储负载将项目</a:t>
            </a:r>
            <a:r>
              <a:rPr lang="en-US" altLang="zh-CN" sz="1200">
                <a:sym typeface="+mn-ea"/>
              </a:rPr>
              <a:t>X</a:t>
            </a:r>
            <a:r>
              <a:rPr lang="zh-CN" altLang="en-US" sz="1200">
                <a:sym typeface="+mn-ea"/>
              </a:rPr>
              <a:t>的数据优先存放在上海中心，并备份到合肥中心），更新</a:t>
            </a:r>
            <a:r>
              <a:rPr lang="en-US" altLang="zh-CN" sz="1200">
                <a:sym typeface="+mn-ea"/>
              </a:rPr>
              <a:t>GMM</a:t>
            </a:r>
            <a:r>
              <a:rPr lang="zh-CN" altLang="en-US" sz="1200">
                <a:sym typeface="+mn-ea"/>
              </a:rPr>
              <a:t>所存储的命名空间结构（例如在某个超算目录下创建一个新目录并标记是否完成，由相关超算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模块返回信息确认）并向目标超算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发送元数据更新请求，</a:t>
            </a:r>
            <a:r>
              <a:rPr lang="zh-CN" altLang="en-US" sz="1200">
                <a:sym typeface="+mn-ea"/>
              </a:rPr>
              <a:t>若是从副本则附加主副本所在</a:t>
            </a:r>
            <a:r>
              <a:rPr lang="en-US" altLang="zh-CN" sz="1200">
                <a:sym typeface="+mn-ea"/>
              </a:rPr>
              <a:t>IP</a:t>
            </a:r>
            <a:r>
              <a:rPr lang="zh-CN" altLang="en-US" sz="1200">
                <a:sym typeface="+mn-ea"/>
              </a:rPr>
              <a:t>（目标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更新区域命名空间并标记是否完成，</a:t>
            </a:r>
            <a:r>
              <a:rPr lang="zh-CN" altLang="en-US" sz="1200">
                <a:sym typeface="+mn-ea"/>
              </a:rPr>
              <a:t>由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模块返回信息确认</a:t>
            </a:r>
            <a:r>
              <a:rPr lang="zh-CN" altLang="en-US" sz="1200">
                <a:sym typeface="+mn-ea"/>
              </a:rPr>
              <a:t>），决定文件的初始存放位置，并将这些位置信息（例如对应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的</a:t>
            </a:r>
            <a:r>
              <a:rPr lang="en-US" altLang="zh-CN" sz="1200">
                <a:sym typeface="+mn-ea"/>
              </a:rPr>
              <a:t>IP</a:t>
            </a:r>
            <a:r>
              <a:rPr lang="zh-CN" altLang="en-US" sz="1200">
                <a:sym typeface="+mn-ea"/>
              </a:rPr>
              <a:t>）返回给客户端。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客户端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直接与目标超算中心的</a:t>
            </a:r>
            <a:r>
              <a:rPr lang="en-US" altLang="zh-CN" sz="1200">
                <a:sym typeface="+mn-ea"/>
              </a:rPr>
              <a:t> DN </a:t>
            </a:r>
            <a:r>
              <a:rPr lang="zh-CN" altLang="en-US" sz="1200">
                <a:sym typeface="+mn-ea"/>
              </a:rPr>
              <a:t>建立文件数据连接。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客户端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将文件数据切块并引入纠删码，并流式传输给主副本所在的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从副本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向主副本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索取数据块副本，从副本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写入完成后向从副本超算中心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汇报完成并返回块位置，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更新元数据标记，</a:t>
            </a:r>
            <a:r>
              <a:rPr lang="zh-CN" altLang="en-US" sz="1200">
                <a:sym typeface="+mn-ea"/>
              </a:rPr>
              <a:t>从副本超算中心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向</a:t>
            </a:r>
            <a:r>
              <a:rPr lang="en-US" altLang="zh-CN" sz="1200">
                <a:sym typeface="+mn-ea"/>
              </a:rPr>
              <a:t>GMM</a:t>
            </a:r>
            <a:r>
              <a:rPr lang="zh-CN" altLang="en-US" sz="1200">
                <a:sym typeface="+mn-ea"/>
              </a:rPr>
              <a:t>汇报副本写入完成，</a:t>
            </a:r>
            <a:r>
              <a:rPr lang="en-US" altLang="zh-CN" sz="1200">
                <a:sym typeface="+mn-ea"/>
              </a:rPr>
              <a:t>GMM</a:t>
            </a:r>
            <a:r>
              <a:rPr lang="zh-CN" altLang="en-US" sz="1200">
                <a:sym typeface="+mn-ea"/>
              </a:rPr>
              <a:t>更新完成标记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主副本所有数据块写入成功后，</a:t>
            </a:r>
            <a:r>
              <a:rPr lang="zh-CN" altLang="en-US" sz="1200">
                <a:sym typeface="+mn-ea"/>
              </a:rPr>
              <a:t>主副本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向</a:t>
            </a:r>
            <a:r>
              <a:rPr lang="zh-CN" altLang="en-US" sz="1200">
                <a:sym typeface="+mn-ea"/>
              </a:rPr>
              <a:t>主副本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汇报</a:t>
            </a:r>
            <a:r>
              <a:rPr lang="zh-CN" altLang="en-US" sz="1200">
                <a:sym typeface="+mn-ea"/>
              </a:rPr>
              <a:t>并返回块位置</a:t>
            </a:r>
            <a:r>
              <a:rPr lang="zh-CN" altLang="en-US" sz="1200">
                <a:sym typeface="+mn-ea"/>
              </a:rPr>
              <a:t>，</a:t>
            </a:r>
            <a:r>
              <a:rPr lang="zh-CN" altLang="en-US" sz="1200">
                <a:sym typeface="+mn-ea"/>
              </a:rPr>
              <a:t>主副本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更新元数据标记完成，</a:t>
            </a:r>
            <a:r>
              <a:rPr lang="zh-CN" altLang="en-US" sz="1200">
                <a:sym typeface="+mn-ea"/>
              </a:rPr>
              <a:t>主副本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向</a:t>
            </a:r>
            <a:r>
              <a:rPr lang="en-US" altLang="zh-CN" sz="1200">
                <a:sym typeface="+mn-ea"/>
              </a:rPr>
              <a:t>GMM</a:t>
            </a:r>
            <a:r>
              <a:rPr lang="zh-CN" altLang="en-US" sz="1200">
                <a:sym typeface="+mn-ea"/>
              </a:rPr>
              <a:t>汇报，确认文件写入完成，</a:t>
            </a:r>
            <a:r>
              <a:rPr lang="en-US" altLang="zh-CN" sz="1200">
                <a:sym typeface="+mn-ea"/>
              </a:rPr>
              <a:t>GMM</a:t>
            </a:r>
            <a:r>
              <a:rPr lang="zh-CN" altLang="en-US" sz="1200">
                <a:sym typeface="+mn-ea"/>
              </a:rPr>
              <a:t>更新标记完成</a:t>
            </a:r>
            <a:r>
              <a:rPr lang="zh-CN" altLang="en-US" sz="1200">
                <a:sym typeface="+mn-ea"/>
              </a:rPr>
              <a:t>。从副本与主副本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该文件目录结构保持一致，并记录该文件向相关块的映射关系，能够通过查询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获得在对应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存储的对应文件完整的所有快。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上述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和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的</a:t>
            </a:r>
            <a:r>
              <a:rPr lang="en-US" altLang="zh-CN" sz="1200">
                <a:sym typeface="+mn-ea"/>
              </a:rPr>
              <a:t>IP</a:t>
            </a:r>
            <a:r>
              <a:rPr lang="zh-CN" altLang="en-US" sz="1200">
                <a:sym typeface="+mn-ea"/>
              </a:rPr>
              <a:t>相同端口号不同，所有超算中的</a:t>
            </a:r>
            <a:r>
              <a:rPr lang="en-US" altLang="zh-CN" sz="1200">
                <a:sym typeface="+mn-ea"/>
              </a:rPr>
              <a:t>RMN</a:t>
            </a:r>
            <a:r>
              <a:rPr lang="zh-CN" altLang="en-US" sz="1200">
                <a:sym typeface="+mn-ea"/>
              </a:rPr>
              <a:t>和</a:t>
            </a:r>
            <a:r>
              <a:rPr lang="en-US" altLang="zh-CN" sz="1200">
                <a:sym typeface="+mn-ea"/>
              </a:rPr>
              <a:t>DN</a:t>
            </a:r>
            <a:r>
              <a:rPr lang="zh-CN" altLang="en-US" sz="1200">
                <a:sym typeface="+mn-ea"/>
              </a:rPr>
              <a:t>的端口号一样。</a:t>
            </a:r>
            <a:endParaRPr lang="zh-CN" altLang="en-US" sz="1200"/>
          </a:p>
        </p:txBody>
      </p:sp>
      <p:cxnSp>
        <p:nvCxnSpPr>
          <p:cNvPr id="34" name="直接箭头连接符 33"/>
          <p:cNvCxnSpPr>
            <a:stCxn id="6" idx="2"/>
            <a:endCxn id="12" idx="0"/>
          </p:cNvCxnSpPr>
          <p:nvPr/>
        </p:nvCxnSpPr>
        <p:spPr>
          <a:xfrm flipH="1">
            <a:off x="4735830" y="980440"/>
            <a:ext cx="1820545" cy="14351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endCxn id="25" idx="0"/>
          </p:cNvCxnSpPr>
          <p:nvPr/>
        </p:nvCxnSpPr>
        <p:spPr>
          <a:xfrm>
            <a:off x="6529705" y="948055"/>
            <a:ext cx="1953260" cy="146748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858125" y="3352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不涉及文件数据</a:t>
            </a:r>
            <a:r>
              <a:rPr lang="zh-CN" altLang="en-US">
                <a:sym typeface="+mn-ea"/>
              </a:rPr>
              <a:t>与客户端传输</a:t>
            </a:r>
            <a:endParaRPr lang="en-US" altLang="zh-CN"/>
          </a:p>
          <a:p>
            <a:r>
              <a:rPr lang="zh-CN" altLang="en-US"/>
              <a:t>删除、查看目录</a:t>
            </a:r>
            <a:r>
              <a:rPr lang="zh-CN" altLang="en-US"/>
              <a:t>等</a:t>
            </a:r>
            <a:endParaRPr lang="zh-CN" altLang="en-US"/>
          </a:p>
        </p:txBody>
      </p:sp>
      <p:cxnSp>
        <p:nvCxnSpPr>
          <p:cNvPr id="37" name="直接箭头连接符 36"/>
          <p:cNvCxnSpPr>
            <a:stCxn id="13" idx="3"/>
            <a:endCxn id="26" idx="1"/>
          </p:cNvCxnSpPr>
          <p:nvPr/>
        </p:nvCxnSpPr>
        <p:spPr>
          <a:xfrm>
            <a:off x="5460365" y="3768090"/>
            <a:ext cx="23120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382135" y="1513840"/>
            <a:ext cx="72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</a:t>
            </a:r>
            <a:r>
              <a:rPr lang="en-US" altLang="zh-CN"/>
              <a:t>S1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8122285" y="1513840"/>
            <a:ext cx="72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</a:t>
            </a:r>
            <a:r>
              <a:rPr lang="en-US" altLang="zh-CN"/>
              <a:t>S2</a:t>
            </a:r>
            <a:endParaRPr lang="en-US" altLang="zh-CN"/>
          </a:p>
        </p:txBody>
      </p:sp>
      <p:cxnSp>
        <p:nvCxnSpPr>
          <p:cNvPr id="41" name="直接箭头连接符 40"/>
          <p:cNvCxnSpPr/>
          <p:nvPr/>
        </p:nvCxnSpPr>
        <p:spPr>
          <a:xfrm flipH="1" flipV="1">
            <a:off x="4951730" y="3091815"/>
            <a:ext cx="6985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8775700" y="3093085"/>
            <a:ext cx="6985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-236855" y="9804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同一个有机体的不同组分</a:t>
            </a:r>
            <a:r>
              <a:rPr lang="en-US" altLang="zh-CN"/>
              <a:t>RMN DN</a:t>
            </a:r>
            <a:r>
              <a:rPr lang="zh-CN" altLang="en-US"/>
              <a:t>，任务不同，区别于端口号</a:t>
            </a:r>
            <a:endParaRPr lang="en-US" altLang="zh-CN"/>
          </a:p>
          <a:p>
            <a:r>
              <a:rPr lang="en-US" altLang="zh-CN"/>
              <a:t>SAI</a:t>
            </a:r>
            <a:r>
              <a:rPr lang="zh-CN" altLang="en-US"/>
              <a:t>是组件</a:t>
            </a:r>
            <a:r>
              <a:rPr lang="en-US" altLang="zh-CN"/>
              <a:t> </a:t>
            </a:r>
            <a:r>
              <a:rPr lang="zh-CN" altLang="en-US"/>
              <a:t>屏蔽</a:t>
            </a:r>
            <a:r>
              <a:rPr lang="zh-CN" altLang="en-US"/>
              <a:t>底层差异</a:t>
            </a:r>
            <a:endParaRPr lang="zh-CN" altLang="en-US"/>
          </a:p>
        </p:txBody>
      </p:sp>
      <p:cxnSp>
        <p:nvCxnSpPr>
          <p:cNvPr id="44" name="直接箭头连接符 43"/>
          <p:cNvCxnSpPr>
            <a:stCxn id="4" idx="6"/>
            <a:endCxn id="13" idx="1"/>
          </p:cNvCxnSpPr>
          <p:nvPr/>
        </p:nvCxnSpPr>
        <p:spPr>
          <a:xfrm flipV="1">
            <a:off x="1666875" y="3768090"/>
            <a:ext cx="235839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 flipV="1">
            <a:off x="5480050" y="3919855"/>
            <a:ext cx="2319020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WPS 演示</Application>
  <PresentationFormat>宽屏</PresentationFormat>
  <Paragraphs>43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宇</cp:lastModifiedBy>
  <cp:revision>157</cp:revision>
  <dcterms:created xsi:type="dcterms:W3CDTF">2019-06-19T02:08:00Z</dcterms:created>
  <dcterms:modified xsi:type="dcterms:W3CDTF">2025-09-06T02:28:52Z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603FA7916A17499392DB786225E763DD_11</vt:lpwstr>
  </property>
</Properties>
</file>